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688836" cy="109728"/>
          </a:xfrm>
          <a:prstGeom prst="rect">
            <a:avLst/>
          </a:prstGeom>
          <a:solidFill>
            <a:srgbClr val="2BA4E0"/>
          </a:solidFill>
          <a:ln/>
        </p:spPr>
      </p:sp>
      <p:sp>
        <p:nvSpPr>
          <p:cNvPr id="3" name="Shape 1"/>
          <p:cNvSpPr/>
          <p:nvPr/>
        </p:nvSpPr>
        <p:spPr>
          <a:xfrm>
            <a:off x="6688836" y="0"/>
            <a:ext cx="5472684" cy="109728"/>
          </a:xfrm>
          <a:prstGeom prst="rect">
            <a:avLst/>
          </a:prstGeom>
          <a:solidFill>
            <a:srgbClr val="5BA53C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2BA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ALTOTECH GLOBAL  ·  ENGINEERING TUTORIAL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82880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2BA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auth.md </a:t>
            </a:r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</a:t>
            </a:r>
            <a:pPr indent="0" marL="0">
              <a:buNone/>
            </a:pPr>
            <a:r>
              <a:rPr lang="en-US" sz="5400" b="1" dirty="0">
                <a:solidFill>
                  <a:srgbClr val="8DC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ADK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640080" y="28803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Authenticating long-running AI agents, end to end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40080" y="361188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7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step-by-step guide: publish auth.md to make an AltoTech app agent-ready, then consume it from ADK agents that pause, resume, and never lose context.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" y="50749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A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A  </a:t>
            </a:r>
            <a:pPr indent="0" marL="0">
              <a:buNone/>
            </a:pPr>
            <a:r>
              <a:rPr lang="en-US" sz="1300" dirty="0">
                <a:solidFill>
                  <a:srgbClr val="C7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App-side: make your app agent-ready        </a:t>
            </a:r>
            <a:pPr indent="0" marL="0">
              <a:buNone/>
            </a:pPr>
            <a:r>
              <a:rPr lang="en-US" sz="1300" b="1" dirty="0">
                <a:solidFill>
                  <a:srgbClr val="8DC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B  </a:t>
            </a:r>
            <a:pPr indent="0" marL="0">
              <a:buNone/>
            </a:pPr>
            <a:r>
              <a:rPr lang="en-US" sz="1300" dirty="0">
                <a:solidFill>
                  <a:srgbClr val="C7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Agent-side: consume it from ADK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6126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375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workos.com/auth-md/docs/apps  ·  developers.googleblog.com (ADK long-running agents, May 2026)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688836" cy="73152"/>
          </a:xfrm>
          <a:prstGeom prst="rect">
            <a:avLst/>
          </a:prstGeom>
          <a:solidFill>
            <a:srgbClr val="2BA4E0"/>
          </a:solidFill>
          <a:ln/>
        </p:spPr>
      </p:sp>
      <p:sp>
        <p:nvSpPr>
          <p:cNvPr id="3" name="Shape 1"/>
          <p:cNvSpPr/>
          <p:nvPr/>
        </p:nvSpPr>
        <p:spPr>
          <a:xfrm>
            <a:off x="6688836" y="0"/>
            <a:ext cx="5472684" cy="73152"/>
          </a:xfrm>
          <a:prstGeom prst="rect">
            <a:avLst/>
          </a:prstGeom>
          <a:solidFill>
            <a:srgbClr val="5BA53C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AltoTech Global  ·  auth.md × ADK tutorial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0140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29260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8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56692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problems, two halves of one solution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502920" y="1371600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3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Long-running agents (HR onboarding, invoice disputes, sales sequences) run for days or weeks across idle time. That breaks two things at once: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" y="2057400"/>
            <a:ext cx="5394960" cy="3017520"/>
          </a:xfrm>
          <a:prstGeom prst="rect">
            <a:avLst/>
          </a:prstGeom>
          <a:solidFill>
            <a:srgbClr val="E6F4FB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24028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1E8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DURABILITY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31520" y="2542032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375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Solved by ADK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31520" y="2926080"/>
            <a:ext cx="498348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263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state machine, not chat history</a:t>
            </a:r>
            <a:endParaRPr lang="en-US" sz="13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263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sessions survive restarts</a:t>
            </a:r>
            <a:endParaRPr lang="en-US" sz="13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263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Event-driven wake-up on webhooks</a:t>
            </a:r>
            <a:endParaRPr lang="en-US" sz="13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263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to zero during idle time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263640" y="2057400"/>
            <a:ext cx="5394960" cy="3017520"/>
          </a:xfrm>
          <a:prstGeom prst="rect">
            <a:avLst/>
          </a:prstGeom>
          <a:solidFill>
            <a:srgbClr val="EDF6E4"/>
          </a:solidFill>
          <a:ln/>
        </p:spPr>
      </p:sp>
      <p:sp>
        <p:nvSpPr>
          <p:cNvPr id="14" name="Text 12"/>
          <p:cNvSpPr/>
          <p:nvPr/>
        </p:nvSpPr>
        <p:spPr>
          <a:xfrm>
            <a:off x="6492240" y="224028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4A8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 VALIDITY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92240" y="2542032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375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Solved by auth.md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92240" y="2926080"/>
            <a:ext cx="498348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263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Scoped, short-lived, revocable tokens</a:t>
            </a:r>
            <a:endParaRPr lang="en-US" sz="13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263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OAuth discovery + flows</a:t>
            </a:r>
            <a:endParaRPr lang="en-US" sz="13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263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acts on a real user's behalf</a:t>
            </a:r>
            <a:endParaRPr lang="en-US" sz="13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263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Least privilege per agent / sub-agent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502920" y="5257800"/>
            <a:ext cx="11155680" cy="777240"/>
          </a:xfrm>
          <a:prstGeom prst="rect">
            <a:avLst/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7512" y="5294376"/>
            <a:ext cx="10826496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   </a:t>
            </a:r>
            <a:pPr indent="0" marL="0">
              <a:buNone/>
            </a:pPr>
            <a:r>
              <a:rPr lang="en-US" sz="125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auth.md issues short-lived tokens by design; your agent may sleep for days. So the agent stores the durable grant, not the token, and re-mints credentials each time it wakes.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688836" cy="73152"/>
          </a:xfrm>
          <a:prstGeom prst="rect">
            <a:avLst/>
          </a:prstGeom>
          <a:solidFill>
            <a:srgbClr val="2BA4E0"/>
          </a:solidFill>
          <a:ln/>
        </p:spPr>
      </p:sp>
      <p:sp>
        <p:nvSpPr>
          <p:cNvPr id="3" name="Shape 1"/>
          <p:cNvSpPr/>
          <p:nvPr/>
        </p:nvSpPr>
        <p:spPr>
          <a:xfrm>
            <a:off x="6688836" y="0"/>
            <a:ext cx="5472684" cy="73152"/>
          </a:xfrm>
          <a:prstGeom prst="rect">
            <a:avLst/>
          </a:prstGeom>
          <a:solidFill>
            <a:srgbClr val="5BA53C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AltoTech Global  ·  auth.md × ADK tutorial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0140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29260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8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BIG PICTURE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56692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end-to-end loop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502920" y="1920240"/>
            <a:ext cx="3383280" cy="1371600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9" name="Shape 7"/>
          <p:cNvSpPr/>
          <p:nvPr/>
        </p:nvSpPr>
        <p:spPr>
          <a:xfrm>
            <a:off x="502920" y="1920240"/>
            <a:ext cx="3383280" cy="73152"/>
          </a:xfrm>
          <a:prstGeom prst="rect">
            <a:avLst/>
          </a:prstGeom>
          <a:solidFill>
            <a:srgbClr val="2BA4E0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1031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AltoTech App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0080" y="2578608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375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Publishes auth.md + discovery docs. Implements /agent/auth. Issues scoped tokens.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389120" y="1920240"/>
            <a:ext cx="3383280" cy="1371600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13" name="Shape 11"/>
          <p:cNvSpPr/>
          <p:nvPr/>
        </p:nvSpPr>
        <p:spPr>
          <a:xfrm>
            <a:off x="4389120" y="1920240"/>
            <a:ext cx="3383280" cy="73152"/>
          </a:xfrm>
          <a:prstGeom prst="rect">
            <a:avLst/>
          </a:prstGeom>
          <a:solidFill>
            <a:srgbClr val="5BA53C"/>
          </a:solidFill>
          <a:ln/>
        </p:spPr>
      </p:sp>
      <p:sp>
        <p:nvSpPr>
          <p:cNvPr id="14" name="Text 12"/>
          <p:cNvSpPr/>
          <p:nvPr/>
        </p:nvSpPr>
        <p:spPr>
          <a:xfrm>
            <a:off x="4526280" y="21031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ADK Agent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526280" y="2578608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375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auth.md, runs a flow, gets a token, calls the API. Sleeps + resumes.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275320" y="1920240"/>
            <a:ext cx="3383280" cy="1371600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17" name="Shape 15"/>
          <p:cNvSpPr/>
          <p:nvPr/>
        </p:nvSpPr>
        <p:spPr>
          <a:xfrm>
            <a:off x="8275320" y="1920240"/>
            <a:ext cx="3383280" cy="73152"/>
          </a:xfrm>
          <a:prstGeom prst="rect">
            <a:avLst/>
          </a:prstGeom>
          <a:solidFill>
            <a:srgbClr val="1E8FCC"/>
          </a:solidFill>
          <a:ln/>
        </p:spPr>
      </p:sp>
      <p:sp>
        <p:nvSpPr>
          <p:cNvPr id="18" name="Text 16"/>
          <p:cNvSpPr/>
          <p:nvPr/>
        </p:nvSpPr>
        <p:spPr>
          <a:xfrm>
            <a:off x="8412480" y="21031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412480" y="2578608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375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Consents (verified) or confirms an OTP (claimed). Can revoke anytime.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3886200" y="2606040"/>
            <a:ext cx="502920" cy="0"/>
          </a:xfrm>
          <a:prstGeom prst="line">
            <a:avLst/>
          </a:prstGeom>
          <a:noFill/>
          <a:ln w="25400">
            <a:solidFill>
              <a:srgbClr val="637589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7772400" y="2606040"/>
            <a:ext cx="502920" cy="0"/>
          </a:xfrm>
          <a:prstGeom prst="line">
            <a:avLst/>
          </a:prstGeom>
          <a:noFill/>
          <a:ln w="25400">
            <a:solidFill>
              <a:srgbClr val="637589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502920" y="3794760"/>
            <a:ext cx="457200" cy="457200"/>
          </a:xfrm>
          <a:prstGeom prst="rect">
            <a:avLst/>
          </a:prstGeom>
          <a:solidFill>
            <a:srgbClr val="E6F4FB"/>
          </a:solidFill>
          <a:ln/>
        </p:spPr>
      </p:sp>
      <p:sp>
        <p:nvSpPr>
          <p:cNvPr id="23" name="Text 21"/>
          <p:cNvSpPr/>
          <p:nvPr/>
        </p:nvSpPr>
        <p:spPr>
          <a:xfrm>
            <a:off x="502920" y="3794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8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1051560" y="3776472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02920" y="434340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63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fetches auth.md + PRM, learns flows and scopes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816352" y="3794760"/>
            <a:ext cx="457200" cy="457200"/>
          </a:xfrm>
          <a:prstGeom prst="rect">
            <a:avLst/>
          </a:prstGeom>
          <a:solidFill>
            <a:srgbClr val="E6F4FB"/>
          </a:solidFill>
          <a:ln/>
        </p:spPr>
      </p:sp>
      <p:sp>
        <p:nvSpPr>
          <p:cNvPr id="27" name="Text 25"/>
          <p:cNvSpPr/>
          <p:nvPr/>
        </p:nvSpPr>
        <p:spPr>
          <a:xfrm>
            <a:off x="2816352" y="3794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8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3364992" y="3776472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2816352" y="434340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63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/agent/auth - verified (ID-JAG) or claimed (OTP)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129784" y="3794760"/>
            <a:ext cx="457200" cy="457200"/>
          </a:xfrm>
          <a:prstGeom prst="rect">
            <a:avLst/>
          </a:prstGeom>
          <a:solidFill>
            <a:srgbClr val="E6F4FB"/>
          </a:solidFill>
          <a:ln/>
        </p:spPr>
      </p:sp>
      <p:sp>
        <p:nvSpPr>
          <p:cNvPr id="31" name="Text 29"/>
          <p:cNvSpPr/>
          <p:nvPr/>
        </p:nvSpPr>
        <p:spPr>
          <a:xfrm>
            <a:off x="5129784" y="3794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8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5678424" y="3776472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 token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129784" y="434340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63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matches user, issues scoped short-lived credential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7443216" y="3794760"/>
            <a:ext cx="457200" cy="457200"/>
          </a:xfrm>
          <a:prstGeom prst="rect">
            <a:avLst/>
          </a:prstGeom>
          <a:solidFill>
            <a:srgbClr val="E6F4FB"/>
          </a:solidFill>
          <a:ln/>
        </p:spPr>
      </p:sp>
      <p:sp>
        <p:nvSpPr>
          <p:cNvPr id="35" name="Text 33"/>
          <p:cNvSpPr/>
          <p:nvPr/>
        </p:nvSpPr>
        <p:spPr>
          <a:xfrm>
            <a:off x="7443216" y="3794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8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36" name="Text 34"/>
          <p:cNvSpPr/>
          <p:nvPr/>
        </p:nvSpPr>
        <p:spPr>
          <a:xfrm>
            <a:off x="7991856" y="3776472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+ sleep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7443216" y="434340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63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calls API, persists the grant, scales to zero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9756648" y="3794760"/>
            <a:ext cx="457200" cy="457200"/>
          </a:xfrm>
          <a:prstGeom prst="rect">
            <a:avLst/>
          </a:prstGeom>
          <a:solidFill>
            <a:srgbClr val="E6F4FB"/>
          </a:solidFill>
          <a:ln/>
        </p:spPr>
      </p:sp>
      <p:sp>
        <p:nvSpPr>
          <p:cNvPr id="39" name="Text 37"/>
          <p:cNvSpPr/>
          <p:nvPr/>
        </p:nvSpPr>
        <p:spPr>
          <a:xfrm>
            <a:off x="9756648" y="3794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8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40" name="Text 38"/>
          <p:cNvSpPr/>
          <p:nvPr/>
        </p:nvSpPr>
        <p:spPr>
          <a:xfrm>
            <a:off x="10305288" y="3776472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Wake + re-mint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9756648" y="434340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63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Webhook wakes agent; it re-acquires a fresh token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688836" cy="73152"/>
          </a:xfrm>
          <a:prstGeom prst="rect">
            <a:avLst/>
          </a:prstGeom>
          <a:solidFill>
            <a:srgbClr val="2BA4E0"/>
          </a:solidFill>
          <a:ln/>
        </p:spPr>
      </p:sp>
      <p:sp>
        <p:nvSpPr>
          <p:cNvPr id="3" name="Shape 1"/>
          <p:cNvSpPr/>
          <p:nvPr/>
        </p:nvSpPr>
        <p:spPr>
          <a:xfrm>
            <a:off x="6688836" y="0"/>
            <a:ext cx="5472684" cy="73152"/>
          </a:xfrm>
          <a:prstGeom prst="rect">
            <a:avLst/>
          </a:prstGeom>
          <a:solidFill>
            <a:srgbClr val="5BA53C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AltoTech Global  ·  auth.md × ADK tutorial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0140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29260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8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CONCEPTS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56692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vocabulary you need first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502920" y="1417320"/>
            <a:ext cx="5486400" cy="1554480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9" name="Text 7"/>
          <p:cNvSpPr/>
          <p:nvPr/>
        </p:nvSpPr>
        <p:spPr>
          <a:xfrm>
            <a:off x="667512" y="1527048"/>
            <a:ext cx="51572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8F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auth.md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67512" y="1920240"/>
            <a:ext cx="515721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63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short Markdown file at yourapp.com/auth.md. Human- and agent-readable. Lists supported flows, scopes, and links to the machine-readable metadata.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172200" y="1417320"/>
            <a:ext cx="5486400" cy="1554480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12" name="Text 10"/>
          <p:cNvSpPr/>
          <p:nvPr/>
        </p:nvSpPr>
        <p:spPr>
          <a:xfrm>
            <a:off x="6336792" y="1527048"/>
            <a:ext cx="51572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8F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PRM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336792" y="1920240"/>
            <a:ext cx="515721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63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Protected Resource Metadata at /.well-known/oauth-protected-resource (RFC 9728). The machine-readable source of truth; points at the Authorization Server.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02920" y="3090672"/>
            <a:ext cx="5486400" cy="1554480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15" name="Text 13"/>
          <p:cNvSpPr/>
          <p:nvPr/>
        </p:nvSpPr>
        <p:spPr>
          <a:xfrm>
            <a:off x="667512" y="3200400"/>
            <a:ext cx="51572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8F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 metadata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67512" y="3593592"/>
            <a:ext cx="515721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63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/.well-known/oauth-authorization-server carries the agent_auth block: register_uri, claim_uri, revocation_uri, and which identity types you accept.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172200" y="3090672"/>
            <a:ext cx="5486400" cy="1554480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18" name="Text 16"/>
          <p:cNvSpPr/>
          <p:nvPr/>
        </p:nvSpPr>
        <p:spPr>
          <a:xfrm>
            <a:off x="6336792" y="3200400"/>
            <a:ext cx="51572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8F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ID-JAG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336792" y="3593592"/>
            <a:ext cx="515721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63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Assertion Authorization Grant. A signed JWT in which a trusted provider (OpenAI, Anthropic, Cursor) vouches for the user's identity.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02920" y="4764024"/>
            <a:ext cx="5486400" cy="1554480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21" name="Text 19"/>
          <p:cNvSpPr/>
          <p:nvPr/>
        </p:nvSpPr>
        <p:spPr>
          <a:xfrm>
            <a:off x="667512" y="4873752"/>
            <a:ext cx="51572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8F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Scoped credential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67512" y="5266944"/>
            <a:ext cx="515721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63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access_token or api_key tied to one user, with explicit scopes. Short-lived and revocable - this is what the agent ultimately holds.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172200" y="4764024"/>
            <a:ext cx="5486400" cy="1554480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24" name="Text 22"/>
          <p:cNvSpPr/>
          <p:nvPr/>
        </p:nvSpPr>
        <p:spPr>
          <a:xfrm>
            <a:off x="6336792" y="4873752"/>
            <a:ext cx="51572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8F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two flows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336792" y="5266944"/>
            <a:ext cx="515721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63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verified (provider attests, no human) and User claimed (OTP confirmation). An app may support either or both.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688836" cy="73152"/>
          </a:xfrm>
          <a:prstGeom prst="rect">
            <a:avLst/>
          </a:prstGeom>
          <a:solidFill>
            <a:srgbClr val="2BA4E0"/>
          </a:solidFill>
          <a:ln/>
        </p:spPr>
      </p:sp>
      <p:sp>
        <p:nvSpPr>
          <p:cNvPr id="3" name="Shape 1"/>
          <p:cNvSpPr/>
          <p:nvPr/>
        </p:nvSpPr>
        <p:spPr>
          <a:xfrm>
            <a:off x="6688836" y="0"/>
            <a:ext cx="5472684" cy="73152"/>
          </a:xfrm>
          <a:prstGeom prst="rect">
            <a:avLst/>
          </a:prstGeom>
          <a:solidFill>
            <a:srgbClr val="5BA53C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AltoTech Global  ·  auth.md × ADK tutorial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0140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29260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8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 FLOWS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56692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what your app accepts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502920" y="1417320"/>
            <a:ext cx="5486400" cy="4480560"/>
          </a:xfrm>
          <a:prstGeom prst="rect">
            <a:avLst/>
          </a:prstGeom>
          <a:solidFill>
            <a:srgbClr val="E6F4FB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6002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150" kern="0" dirty="0">
                <a:solidFill>
                  <a:srgbClr val="1E8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VERIFIED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" y="196596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375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 attests, no human in the loop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31520" y="2377440"/>
            <a:ext cx="502920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263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Trusted provider signs an ID-JAG asserting the user</a:t>
            </a:r>
            <a:endParaRPr lang="en-US" sz="13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263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service verifies the signature against the provider JWKS</a:t>
            </a:r>
            <a:endParaRPr lang="en-US" sz="13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263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matched, credentials returned synchronously</a:t>
            </a:r>
            <a:endParaRPr lang="en-US" sz="13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263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refresh token - agent presents a fresh ID-JAG to extend</a:t>
            </a:r>
            <a:endParaRPr lang="en-US" sz="13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263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Needs: a trust list of providers + replay protection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172200" y="1417320"/>
            <a:ext cx="5486400" cy="4480560"/>
          </a:xfrm>
          <a:prstGeom prst="rect">
            <a:avLst/>
          </a:prstGeom>
          <a:solidFill>
            <a:srgbClr val="EDF6E4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0" y="16002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150" kern="0" dirty="0">
                <a:solidFill>
                  <a:srgbClr val="4A8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CLAIMED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00800" y="196596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375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OTP confirmation, no provider required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00800" y="2377440"/>
            <a:ext cx="502920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4A8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Anonymous start</a:t>
            </a:r>
            <a:endParaRPr lang="en-US" sz="13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263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a pre-claim credential immediately; the user runs the OTP claim later to bind + upgrade scopes.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4A8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required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63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 an email up front, email an OTP, and withhold the credential until the claim completes.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688836" cy="73152"/>
          </a:xfrm>
          <a:prstGeom prst="rect">
            <a:avLst/>
          </a:prstGeom>
          <a:solidFill>
            <a:srgbClr val="2BA4E0"/>
          </a:solidFill>
          <a:ln/>
        </p:spPr>
      </p:sp>
      <p:sp>
        <p:nvSpPr>
          <p:cNvPr id="3" name="Shape 1"/>
          <p:cNvSpPr/>
          <p:nvPr/>
        </p:nvSpPr>
        <p:spPr>
          <a:xfrm>
            <a:off x="6688836" y="0"/>
            <a:ext cx="5472684" cy="73152"/>
          </a:xfrm>
          <a:prstGeom prst="rect">
            <a:avLst/>
          </a:prstGeom>
          <a:solidFill>
            <a:srgbClr val="5BA53C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AltoTech Global  ·  auth.md × ADK tutorial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0140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29260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8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TUTORIAL ROADMAP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56692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will build, step by step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502920" y="1463040"/>
            <a:ext cx="5532120" cy="43891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502920" y="1463040"/>
            <a:ext cx="5532120" cy="548640"/>
          </a:xfrm>
          <a:prstGeom prst="rect">
            <a:avLst/>
          </a:prstGeom>
          <a:solidFill>
            <a:srgbClr val="2BA4E0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1463040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A  ·  MAKE YOUR APP AGENT-READY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31520" y="2194560"/>
            <a:ext cx="512064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263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A1  Publish your auth.md</a:t>
            </a:r>
            <a:endParaRPr lang="en-US" sz="15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263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  Publish discovery docs + 401 hint</a:t>
            </a:r>
            <a:endParaRPr lang="en-US" sz="15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263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A3  Implement POST /agent/auth</a:t>
            </a:r>
            <a:endParaRPr lang="en-US" sz="15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263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A4  Agent-verified: verify the ID-JAG</a:t>
            </a:r>
            <a:endParaRPr lang="en-US" sz="15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263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A5  User-claimed: the OTP ceremony</a:t>
            </a:r>
            <a:endParaRPr lang="en-US" sz="15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263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A6  Matching, revocation, hardening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172200" y="1463040"/>
            <a:ext cx="5486400" cy="43891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Shape 11"/>
          <p:cNvSpPr/>
          <p:nvPr/>
        </p:nvSpPr>
        <p:spPr>
          <a:xfrm>
            <a:off x="6172200" y="1463040"/>
            <a:ext cx="5486400" cy="548640"/>
          </a:xfrm>
          <a:prstGeom prst="rect">
            <a:avLst/>
          </a:prstGeom>
          <a:solidFill>
            <a:srgbClr val="5BA53C"/>
          </a:solidFill>
          <a:ln/>
        </p:spPr>
      </p:sp>
      <p:sp>
        <p:nvSpPr>
          <p:cNvPr id="14" name="Text 12"/>
          <p:cNvSpPr/>
          <p:nvPr/>
        </p:nvSpPr>
        <p:spPr>
          <a:xfrm>
            <a:off x="6355080" y="146304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B  ·  CONSUME IT FROM ADK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00800" y="2194560"/>
            <a:ext cx="507492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263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B1  Recap the ADK durable foundation</a:t>
            </a:r>
            <a:endParaRPr lang="en-US" sz="15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263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  Store the grant, not the token</a:t>
            </a:r>
            <a:endParaRPr lang="en-US" sz="15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263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B3  Acquire credentials at wake time</a:t>
            </a:r>
            <a:endParaRPr lang="en-US" sz="15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263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B4  Map the approval gate to a flow</a:t>
            </a:r>
            <a:endParaRPr lang="en-US" sz="15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263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B5  Scope per sub-agent</a:t>
            </a:r>
            <a:endParaRPr lang="en-US" sz="15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263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Then: reference architecture + reality check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E1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688836" cy="109728"/>
          </a:xfrm>
          <a:prstGeom prst="rect">
            <a:avLst/>
          </a:prstGeom>
          <a:solidFill>
            <a:srgbClr val="2BA4E0"/>
          </a:solidFill>
          <a:ln/>
        </p:spPr>
      </p:sp>
      <p:sp>
        <p:nvSpPr>
          <p:cNvPr id="3" name="Shape 1"/>
          <p:cNvSpPr/>
          <p:nvPr/>
        </p:nvSpPr>
        <p:spPr>
          <a:xfrm>
            <a:off x="6688836" y="0"/>
            <a:ext cx="5472684" cy="109728"/>
          </a:xfrm>
          <a:prstGeom prst="rect">
            <a:avLst/>
          </a:prstGeom>
          <a:solidFill>
            <a:srgbClr val="5BA53C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286000"/>
            <a:ext cx="5486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spc="400" kern="0" dirty="0">
                <a:solidFill>
                  <a:srgbClr val="2BA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A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92608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your AltoTech app agent-ready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31520" y="39776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7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discovery metadata, implement the /agent/auth endpoints, and choose which flows you support.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688836" cy="73152"/>
          </a:xfrm>
          <a:prstGeom prst="rect">
            <a:avLst/>
          </a:prstGeom>
          <a:solidFill>
            <a:srgbClr val="2BA4E0"/>
          </a:solidFill>
          <a:ln/>
        </p:spPr>
      </p:sp>
      <p:sp>
        <p:nvSpPr>
          <p:cNvPr id="3" name="Shape 1"/>
          <p:cNvSpPr/>
          <p:nvPr/>
        </p:nvSpPr>
        <p:spPr>
          <a:xfrm>
            <a:off x="6688836" y="0"/>
            <a:ext cx="5472684" cy="73152"/>
          </a:xfrm>
          <a:prstGeom prst="rect">
            <a:avLst/>
          </a:prstGeom>
          <a:solidFill>
            <a:srgbClr val="5BA53C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AltoTech Global  ·  auth.md × ADK tutorial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0140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02920" y="502920"/>
            <a:ext cx="457200" cy="457200"/>
          </a:xfrm>
          <a:prstGeom prst="rect">
            <a:avLst/>
          </a:prstGeom>
          <a:solidFill>
            <a:srgbClr val="2BA4E0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502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097280" y="4572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your auth.md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502920" y="1234440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63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 a short Markdown file at the root of your service. It is the discovery-friendly companion to the structured PRM - readable by agents that find you via docs, SDKs, or search.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02920" y="18745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8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include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02920" y="2240280"/>
            <a:ext cx="5486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263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name + one-line description</a:t>
            </a:r>
            <a:endParaRPr lang="en-US" sz="13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263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flows you support (and constraints)</a:t>
            </a:r>
            <a:endParaRPr lang="en-US" sz="13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263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Links to the PRM and the /agent/auth endpoint</a:t>
            </a:r>
            <a:endParaRPr lang="en-US" sz="13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263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inventory, one line per scope</a:t>
            </a:r>
            <a:endParaRPr lang="en-US" sz="13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263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Pointers to pricing, terms, privacy policy</a:t>
            </a:r>
            <a:endParaRPr lang="en-US" sz="13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263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contact channel for integration issues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309360" y="1783080"/>
            <a:ext cx="5349240" cy="310896"/>
          </a:xfrm>
          <a:prstGeom prst="rect">
            <a:avLst/>
          </a:prstGeom>
          <a:solidFill>
            <a:srgbClr val="1E8FCC"/>
          </a:solidFill>
          <a:ln/>
        </p:spPr>
      </p:sp>
      <p:sp>
        <p:nvSpPr>
          <p:cNvPr id="13" name="Text 11"/>
          <p:cNvSpPr/>
          <p:nvPr/>
        </p:nvSpPr>
        <p:spPr>
          <a:xfrm>
            <a:off x="6419088" y="1783080"/>
            <a:ext cx="51297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ALTOTECH.AI/AUTH.MD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309360" y="2093976"/>
            <a:ext cx="5349240" cy="3941064"/>
          </a:xfrm>
          <a:prstGeom prst="rect">
            <a:avLst/>
          </a:prstGeom>
          <a:solidFill>
            <a:srgbClr val="0E1A2B"/>
          </a:solidFill>
          <a:ln/>
        </p:spPr>
      </p:sp>
      <p:sp>
        <p:nvSpPr>
          <p:cNvPr id="15" name="Text 13"/>
          <p:cNvSpPr/>
          <p:nvPr/>
        </p:nvSpPr>
        <p:spPr>
          <a:xfrm>
            <a:off x="6455664" y="2148840"/>
            <a:ext cx="5056632" cy="3831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8DC6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AltoTech Energy API
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F4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 registration for the platform.
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8DC6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Flows
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F4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agent-verified (ID-JAG)
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F4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user-claimed (email required)
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8DC6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Scopes
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F4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sites.read    read site data
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F4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control.write write setpoints
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8DC6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Discovery
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375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PRM: /.well-known/oauth-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375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protected-resource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688836" cy="73152"/>
          </a:xfrm>
          <a:prstGeom prst="rect">
            <a:avLst/>
          </a:prstGeom>
          <a:solidFill>
            <a:srgbClr val="2BA4E0"/>
          </a:solidFill>
          <a:ln/>
        </p:spPr>
      </p:sp>
      <p:sp>
        <p:nvSpPr>
          <p:cNvPr id="3" name="Shape 1"/>
          <p:cNvSpPr/>
          <p:nvPr/>
        </p:nvSpPr>
        <p:spPr>
          <a:xfrm>
            <a:off x="6688836" y="0"/>
            <a:ext cx="5472684" cy="73152"/>
          </a:xfrm>
          <a:prstGeom prst="rect">
            <a:avLst/>
          </a:prstGeom>
          <a:solidFill>
            <a:srgbClr val="5BA53C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AltoTech Global  ·  auth.md × ADK tutorial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0140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02920" y="502920"/>
            <a:ext cx="457200" cy="457200"/>
          </a:xfrm>
          <a:prstGeom prst="rect">
            <a:avLst/>
          </a:prstGeom>
          <a:solidFill>
            <a:srgbClr val="E6F4FB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502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8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097280" y="4572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the discovery documents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502920" y="1234440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63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 is split in two. The PRM advertises the resource and points at the Authorization Server; the AS metadata carries the agent_auth block. Advertise only what you actually accept.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02920" y="1874520"/>
            <a:ext cx="5532120" cy="310896"/>
          </a:xfrm>
          <a:prstGeom prst="rect">
            <a:avLst/>
          </a:prstGeom>
          <a:solidFill>
            <a:srgbClr val="1E8FCC"/>
          </a:solidFill>
          <a:ln/>
        </p:spPr>
      </p:sp>
      <p:sp>
        <p:nvSpPr>
          <p:cNvPr id="11" name="Text 9"/>
          <p:cNvSpPr/>
          <p:nvPr/>
        </p:nvSpPr>
        <p:spPr>
          <a:xfrm>
            <a:off x="612648" y="1874520"/>
            <a:ext cx="53126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PRM · /.WELL-KNOWN/OAUTH-PROTECTED-RESOURCE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02920" y="2185416"/>
            <a:ext cx="5532120" cy="2432304"/>
          </a:xfrm>
          <a:prstGeom prst="rect">
            <a:avLst/>
          </a:prstGeom>
          <a:solidFill>
            <a:srgbClr val="0E1A2B"/>
          </a:solidFill>
          <a:ln/>
        </p:spPr>
      </p:sp>
      <p:sp>
        <p:nvSpPr>
          <p:cNvPr id="13" name="Text 11"/>
          <p:cNvSpPr/>
          <p:nvPr/>
        </p:nvSpPr>
        <p:spPr>
          <a:xfrm>
            <a:off x="649224" y="2240280"/>
            <a:ext cx="5239512" cy="2322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6F4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
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6F4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"resource": "https://api.altotech.ai/",
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6F4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"authorization_servers":
     ["https://auth.altotech.ai/"],
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6F4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"scopes_supported":
     ["sites.read","control.write"],
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6F4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"bearer_methods_supported": ["header"]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6F4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309360" y="1874520"/>
            <a:ext cx="5349240" cy="310896"/>
          </a:xfrm>
          <a:prstGeom prst="rect">
            <a:avLst/>
          </a:prstGeom>
          <a:solidFill>
            <a:srgbClr val="1E8FCC"/>
          </a:solidFill>
          <a:ln/>
        </p:spPr>
      </p:sp>
      <p:sp>
        <p:nvSpPr>
          <p:cNvPr id="15" name="Text 13"/>
          <p:cNvSpPr/>
          <p:nvPr/>
        </p:nvSpPr>
        <p:spPr>
          <a:xfrm>
            <a:off x="6419088" y="1874520"/>
            <a:ext cx="51297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METADATA · AGENT_AUTH BLOCK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309360" y="2185416"/>
            <a:ext cx="5349240" cy="2432304"/>
          </a:xfrm>
          <a:prstGeom prst="rect">
            <a:avLst/>
          </a:prstGeom>
          <a:solidFill>
            <a:srgbClr val="0E1A2B"/>
          </a:solidFill>
          <a:ln/>
        </p:spPr>
      </p:sp>
      <p:sp>
        <p:nvSpPr>
          <p:cNvPr id="17" name="Text 15"/>
          <p:cNvSpPr/>
          <p:nvPr/>
        </p:nvSpPr>
        <p:spPr>
          <a:xfrm>
            <a:off x="6455664" y="2240280"/>
            <a:ext cx="5056632" cy="2322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6F4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"agent_auth": {
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6F4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"register_uri": ".../agent/auth",
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6F4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"claim_uri": ".../agent/auth/claim",
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6F4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"revocation_uri": ".../agent/auth/revoke",
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6F4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"identity_types_supported":
     ["anonymous","identity_assertion"]
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6F4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02920" y="4800600"/>
            <a:ext cx="11155680" cy="310896"/>
          </a:xfrm>
          <a:prstGeom prst="rect">
            <a:avLst/>
          </a:prstGeom>
          <a:solidFill>
            <a:srgbClr val="1E8FCC"/>
          </a:solidFill>
          <a:ln/>
        </p:spPr>
      </p:sp>
      <p:sp>
        <p:nvSpPr>
          <p:cNvPr id="19" name="Text 17"/>
          <p:cNvSpPr/>
          <p:nvPr/>
        </p:nvSpPr>
        <p:spPr>
          <a:xfrm>
            <a:off x="612648" y="4800600"/>
            <a:ext cx="109362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401 RESPONSE · THE DISCOVERY HINT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02920" y="5111496"/>
            <a:ext cx="11155680" cy="740664"/>
          </a:xfrm>
          <a:prstGeom prst="rect">
            <a:avLst/>
          </a:prstGeom>
          <a:solidFill>
            <a:srgbClr val="0E1A2B"/>
          </a:solidFill>
          <a:ln/>
        </p:spPr>
      </p:sp>
      <p:sp>
        <p:nvSpPr>
          <p:cNvPr id="21" name="Text 19"/>
          <p:cNvSpPr/>
          <p:nvPr/>
        </p:nvSpPr>
        <p:spPr>
          <a:xfrm>
            <a:off x="649224" y="5166360"/>
            <a:ext cx="10863072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6F4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HTTP/1.1 401 Unauthorized
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6F4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WWW-Authenticate: Bearer resource_metadata="https://api.altotech.ai/.well-known/oauth-protected-resource"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688836" cy="73152"/>
          </a:xfrm>
          <a:prstGeom prst="rect">
            <a:avLst/>
          </a:prstGeom>
          <a:solidFill>
            <a:srgbClr val="2BA4E0"/>
          </a:solidFill>
          <a:ln/>
        </p:spPr>
      </p:sp>
      <p:sp>
        <p:nvSpPr>
          <p:cNvPr id="3" name="Shape 1"/>
          <p:cNvSpPr/>
          <p:nvPr/>
        </p:nvSpPr>
        <p:spPr>
          <a:xfrm>
            <a:off x="6688836" y="0"/>
            <a:ext cx="5472684" cy="73152"/>
          </a:xfrm>
          <a:prstGeom prst="rect">
            <a:avLst/>
          </a:prstGeom>
          <a:solidFill>
            <a:srgbClr val="5BA53C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AltoTech Global  ·  auth.md × ADK tutorial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0140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02920" y="502920"/>
            <a:ext cx="457200" cy="457200"/>
          </a:xfrm>
          <a:prstGeom prst="rect">
            <a:avLst/>
          </a:prstGeom>
          <a:solidFill>
            <a:srgbClr val="E6F4FB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502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8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A3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097280" y="4572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POST /agent/auth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502920" y="123444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63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endpoint, shared by both flows. It dispatches on the type field. This is the minimum viable surface.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02920" y="17830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8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implementation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02920" y="2148840"/>
            <a:ext cx="557784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63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PRM with an agent_auth block</a:t>
            </a:r>
            <a:endParaRPr lang="en-US" sz="13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63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WWW-Authenticate on 401s</a:t>
            </a:r>
            <a:endParaRPr lang="en-US" sz="13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63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 /agent/auth, dispatch on type</a:t>
            </a:r>
            <a:endParaRPr lang="en-US" sz="13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63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Verified: maintain a provider trust list + verify ID-JAG</a:t>
            </a:r>
            <a:endParaRPr lang="en-US" sz="13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63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Claimed: add /claim and /claim/complete, email OTPs</a:t>
            </a:r>
            <a:endParaRPr lang="en-US" sz="13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63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access_token or api_key; accept revocation</a:t>
            </a:r>
            <a:endParaRPr lang="en-US" sz="13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63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an audit event for every state change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309360" y="1783080"/>
            <a:ext cx="5349240" cy="310896"/>
          </a:xfrm>
          <a:prstGeom prst="rect">
            <a:avLst/>
          </a:prstGeom>
          <a:solidFill>
            <a:srgbClr val="1E8FCC"/>
          </a:solidFill>
          <a:ln/>
        </p:spPr>
      </p:sp>
      <p:sp>
        <p:nvSpPr>
          <p:cNvPr id="13" name="Text 11"/>
          <p:cNvSpPr/>
          <p:nvPr/>
        </p:nvSpPr>
        <p:spPr>
          <a:xfrm>
            <a:off x="6419088" y="1783080"/>
            <a:ext cx="51297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/AGENT/AUTH · DISPATCH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309360" y="2093976"/>
            <a:ext cx="5349240" cy="3758184"/>
          </a:xfrm>
          <a:prstGeom prst="rect">
            <a:avLst/>
          </a:prstGeom>
          <a:solidFill>
            <a:srgbClr val="0E1A2B"/>
          </a:solidFill>
          <a:ln/>
        </p:spPr>
      </p:sp>
      <p:sp>
        <p:nvSpPr>
          <p:cNvPr id="15" name="Text 13"/>
          <p:cNvSpPr/>
          <p:nvPr/>
        </p:nvSpPr>
        <p:spPr>
          <a:xfrm>
            <a:off x="6455664" y="2148840"/>
            <a:ext cx="5056632" cy="3648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375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type drives the flow
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6F4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switch (req.body.type) {
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8DC6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case "identity_assertion":
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375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ID-JAG  -&gt; agent verified
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375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verified_email -&gt; claimed
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6F4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handleAssertion(req);
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8DC6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case "anonymous":
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375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claimed, pre-claim creds
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6F4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handleAnonymous(req);
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6F4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688836" cy="73152"/>
          </a:xfrm>
          <a:prstGeom prst="rect">
            <a:avLst/>
          </a:prstGeom>
          <a:solidFill>
            <a:srgbClr val="2BA4E0"/>
          </a:solidFill>
          <a:ln/>
        </p:spPr>
      </p:sp>
      <p:sp>
        <p:nvSpPr>
          <p:cNvPr id="3" name="Shape 1"/>
          <p:cNvSpPr/>
          <p:nvPr/>
        </p:nvSpPr>
        <p:spPr>
          <a:xfrm>
            <a:off x="6688836" y="0"/>
            <a:ext cx="5472684" cy="73152"/>
          </a:xfrm>
          <a:prstGeom prst="rect">
            <a:avLst/>
          </a:prstGeom>
          <a:solidFill>
            <a:srgbClr val="5BA53C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AltoTech Global  ·  auth.md × ADK tutorial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0140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02920" y="502920"/>
            <a:ext cx="457200" cy="457200"/>
          </a:xfrm>
          <a:prstGeom prst="rect">
            <a:avLst/>
          </a:prstGeom>
          <a:solidFill>
            <a:srgbClr val="E6F4FB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502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8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A4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097280" y="4572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Agent-verified: verify the ID-JAG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502920" y="123444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63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type is identity_assertion with an ID-JAG, validate it and issue credentials synchronously.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02920" y="1828800"/>
            <a:ext cx="457200" cy="457200"/>
          </a:xfrm>
          <a:prstGeom prst="rect">
            <a:avLst/>
          </a:prstGeom>
          <a:solidFill>
            <a:srgbClr val="EDF6E4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A8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069848" y="182880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 header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69848" y="2212848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63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kid and alg from the ID-JAG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217920" y="1828800"/>
            <a:ext cx="457200" cy="457200"/>
          </a:xfrm>
          <a:prstGeom prst="rect">
            <a:avLst/>
          </a:prstGeom>
          <a:solidFill>
            <a:srgbClr val="EDF6E4"/>
          </a:solidFill>
          <a:ln/>
        </p:spPr>
      </p:sp>
      <p:sp>
        <p:nvSpPr>
          <p:cNvPr id="15" name="Text 13"/>
          <p:cNvSpPr/>
          <p:nvPr/>
        </p:nvSpPr>
        <p:spPr>
          <a:xfrm>
            <a:off x="621792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A8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6784848" y="182880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up issuer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784848" y="2212848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63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 if iss is not on your trust list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02920" y="2743200"/>
            <a:ext cx="457200" cy="457200"/>
          </a:xfrm>
          <a:prstGeom prst="rect">
            <a:avLst/>
          </a:prstGeom>
          <a:solidFill>
            <a:srgbClr val="EDF6E4"/>
          </a:solidFill>
          <a:ln/>
        </p:spPr>
      </p:sp>
      <p:sp>
        <p:nvSpPr>
          <p:cNvPr id="19" name="Text 17"/>
          <p:cNvSpPr/>
          <p:nvPr/>
        </p:nvSpPr>
        <p:spPr>
          <a:xfrm>
            <a:off x="502920" y="2743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A8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069848" y="274320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JWKS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069848" y="3127248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63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provider keys; cache + refetch on kid miss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217920" y="2743200"/>
            <a:ext cx="457200" cy="457200"/>
          </a:xfrm>
          <a:prstGeom prst="rect">
            <a:avLst/>
          </a:prstGeom>
          <a:solidFill>
            <a:srgbClr val="EDF6E4"/>
          </a:solidFill>
          <a:ln/>
        </p:spPr>
      </p:sp>
      <p:sp>
        <p:nvSpPr>
          <p:cNvPr id="23" name="Text 21"/>
          <p:cNvSpPr/>
          <p:nvPr/>
        </p:nvSpPr>
        <p:spPr>
          <a:xfrm>
            <a:off x="6217920" y="2743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A8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6784848" y="274320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signature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784848" y="3127248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63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against the key matching kid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502920" y="3657600"/>
            <a:ext cx="457200" cy="457200"/>
          </a:xfrm>
          <a:prstGeom prst="rect">
            <a:avLst/>
          </a:prstGeom>
          <a:solidFill>
            <a:srgbClr val="EDF6E4"/>
          </a:solidFill>
          <a:ln/>
        </p:spPr>
      </p:sp>
      <p:sp>
        <p:nvSpPr>
          <p:cNvPr id="27" name="Text 25"/>
          <p:cNvSpPr/>
          <p:nvPr/>
        </p:nvSpPr>
        <p:spPr>
          <a:xfrm>
            <a:off x="502920" y="3657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A8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1069848" y="365760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claims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069848" y="4041648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63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aud, exp, iat, jti (replay), verified email/phone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6217920" y="3657600"/>
            <a:ext cx="457200" cy="457200"/>
          </a:xfrm>
          <a:prstGeom prst="rect">
            <a:avLst/>
          </a:prstGeom>
          <a:solidFill>
            <a:srgbClr val="EDF6E4"/>
          </a:solidFill>
          <a:ln/>
        </p:spPr>
      </p:sp>
      <p:sp>
        <p:nvSpPr>
          <p:cNvPr id="31" name="Text 29"/>
          <p:cNvSpPr/>
          <p:nvPr/>
        </p:nvSpPr>
        <p:spPr>
          <a:xfrm>
            <a:off x="6217920" y="3657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A8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6784848" y="365760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or provision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784848" y="4041648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63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 the user, then JIT if no match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502920" y="5166360"/>
            <a:ext cx="11155680" cy="777240"/>
          </a:xfrm>
          <a:prstGeom prst="rect">
            <a:avLst/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67512" y="5202936"/>
            <a:ext cx="10826496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REFRESH TOKEN   </a:t>
            </a:r>
            <a:pPr indent="0" marL="0">
              <a:buNone/>
            </a:pPr>
            <a:r>
              <a:rPr lang="en-US" sz="125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tokens issued from ID-JAG verification must NOT include a refresh token. The agent presents a fresh ID-JAG to extend access - which is exactly why the consuming agent re-mints at wake time (Part B).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688836" cy="73152"/>
          </a:xfrm>
          <a:prstGeom prst="rect">
            <a:avLst/>
          </a:prstGeom>
          <a:solidFill>
            <a:srgbClr val="2BA4E0"/>
          </a:solidFill>
          <a:ln/>
        </p:spPr>
      </p:sp>
      <p:sp>
        <p:nvSpPr>
          <p:cNvPr id="3" name="Shape 1"/>
          <p:cNvSpPr/>
          <p:nvPr/>
        </p:nvSpPr>
        <p:spPr>
          <a:xfrm>
            <a:off x="6688836" y="0"/>
            <a:ext cx="5472684" cy="73152"/>
          </a:xfrm>
          <a:prstGeom prst="rect">
            <a:avLst/>
          </a:prstGeom>
          <a:solidFill>
            <a:srgbClr val="5BA53C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AltoTech Global  ·  auth.md × ADK tutorial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0140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02920" y="502920"/>
            <a:ext cx="457200" cy="457200"/>
          </a:xfrm>
          <a:prstGeom prst="rect">
            <a:avLst/>
          </a:prstGeom>
          <a:solidFill>
            <a:srgbClr val="E6F4FB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502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8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A5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097280" y="4572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User-claimed: the OTP ceremony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502920" y="123444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63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entrypoints converge on the same OTP exchange. The difference is when the email is sent and what /complete returns.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02920" y="1920240"/>
            <a:ext cx="2743200" cy="3291840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11" name="Shape 9"/>
          <p:cNvSpPr/>
          <p:nvPr/>
        </p:nvSpPr>
        <p:spPr>
          <a:xfrm>
            <a:off x="502920" y="1920240"/>
            <a:ext cx="2743200" cy="54864"/>
          </a:xfrm>
          <a:prstGeom prst="rect">
            <a:avLst/>
          </a:prstGeom>
          <a:solidFill>
            <a:srgbClr val="5BA53C"/>
          </a:solidFill>
          <a:ln/>
        </p:spPr>
      </p:sp>
      <p:sp>
        <p:nvSpPr>
          <p:cNvPr id="12" name="Text 10"/>
          <p:cNvSpPr/>
          <p:nvPr/>
        </p:nvSpPr>
        <p:spPr>
          <a:xfrm>
            <a:off x="667512" y="20574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A8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67512" y="2560320"/>
            <a:ext cx="24140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1A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/agent/auth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67512" y="3200400"/>
            <a:ext cx="241401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63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Anonymous: get api_key + claim_token now. Email-required: get claim_token, no credential yet.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250692" y="3566160"/>
            <a:ext cx="109728" cy="0"/>
          </a:xfrm>
          <a:prstGeom prst="line">
            <a:avLst/>
          </a:prstGeom>
          <a:noFill/>
          <a:ln w="19050">
            <a:solidFill>
              <a:srgbClr val="637589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3364992" y="1920240"/>
            <a:ext cx="2743200" cy="3291840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17" name="Shape 15"/>
          <p:cNvSpPr/>
          <p:nvPr/>
        </p:nvSpPr>
        <p:spPr>
          <a:xfrm>
            <a:off x="3364992" y="1920240"/>
            <a:ext cx="2743200" cy="54864"/>
          </a:xfrm>
          <a:prstGeom prst="rect">
            <a:avLst/>
          </a:prstGeom>
          <a:solidFill>
            <a:srgbClr val="5BA53C"/>
          </a:solidFill>
          <a:ln/>
        </p:spPr>
      </p:sp>
      <p:sp>
        <p:nvSpPr>
          <p:cNvPr id="18" name="Text 16"/>
          <p:cNvSpPr/>
          <p:nvPr/>
        </p:nvSpPr>
        <p:spPr>
          <a:xfrm>
            <a:off x="3529584" y="20574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A8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3529584" y="2560320"/>
            <a:ext cx="24140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1A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/claim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3529584" y="3200400"/>
            <a:ext cx="241401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63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Anonymous only. Supply email; service emails a one-time claim-view link.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112764" y="3566160"/>
            <a:ext cx="109728" cy="0"/>
          </a:xfrm>
          <a:prstGeom prst="line">
            <a:avLst/>
          </a:prstGeom>
          <a:noFill/>
          <a:ln w="19050">
            <a:solidFill>
              <a:srgbClr val="637589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6227064" y="1920240"/>
            <a:ext cx="2743200" cy="3291840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23" name="Shape 21"/>
          <p:cNvSpPr/>
          <p:nvPr/>
        </p:nvSpPr>
        <p:spPr>
          <a:xfrm>
            <a:off x="6227064" y="1920240"/>
            <a:ext cx="2743200" cy="54864"/>
          </a:xfrm>
          <a:prstGeom prst="rect">
            <a:avLst/>
          </a:prstGeom>
          <a:solidFill>
            <a:srgbClr val="5BA53C"/>
          </a:solidFill>
          <a:ln/>
        </p:spPr>
      </p:sp>
      <p:sp>
        <p:nvSpPr>
          <p:cNvPr id="24" name="Text 22"/>
          <p:cNvSpPr/>
          <p:nvPr/>
        </p:nvSpPr>
        <p:spPr>
          <a:xfrm>
            <a:off x="6391656" y="20574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A8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6391656" y="2560320"/>
            <a:ext cx="24140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1A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 reads OTP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6391656" y="3200400"/>
            <a:ext cx="241401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63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opens the link, sees a 6-digit code, reads it back to the agent.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8974836" y="3566160"/>
            <a:ext cx="109728" cy="0"/>
          </a:xfrm>
          <a:prstGeom prst="line">
            <a:avLst/>
          </a:prstGeom>
          <a:noFill/>
          <a:ln w="19050">
            <a:solidFill>
              <a:srgbClr val="637589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9089136" y="1920240"/>
            <a:ext cx="2743200" cy="3291840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29" name="Shape 27"/>
          <p:cNvSpPr/>
          <p:nvPr/>
        </p:nvSpPr>
        <p:spPr>
          <a:xfrm>
            <a:off x="9089136" y="1920240"/>
            <a:ext cx="2743200" cy="54864"/>
          </a:xfrm>
          <a:prstGeom prst="rect">
            <a:avLst/>
          </a:prstGeom>
          <a:solidFill>
            <a:srgbClr val="5BA53C"/>
          </a:solidFill>
          <a:ln/>
        </p:spPr>
      </p:sp>
      <p:sp>
        <p:nvSpPr>
          <p:cNvPr id="30" name="Text 28"/>
          <p:cNvSpPr/>
          <p:nvPr/>
        </p:nvSpPr>
        <p:spPr>
          <a:xfrm>
            <a:off x="9253728" y="20574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A8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9253728" y="2560320"/>
            <a:ext cx="24140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1A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/claim/complete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9253728" y="3200400"/>
            <a:ext cx="241401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63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claim_token + OTP. Anonymous upgrades scopes in place; email-required issues a fresh credential.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502920" y="544068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375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only SHA-256 hashes of claim_token, claim_view_token, and OTP. Plaintext leaves the server exactly once each.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688836" cy="73152"/>
          </a:xfrm>
          <a:prstGeom prst="rect">
            <a:avLst/>
          </a:prstGeom>
          <a:solidFill>
            <a:srgbClr val="2BA4E0"/>
          </a:solidFill>
          <a:ln/>
        </p:spPr>
      </p:sp>
      <p:sp>
        <p:nvSpPr>
          <p:cNvPr id="3" name="Shape 1"/>
          <p:cNvSpPr/>
          <p:nvPr/>
        </p:nvSpPr>
        <p:spPr>
          <a:xfrm>
            <a:off x="6688836" y="0"/>
            <a:ext cx="5472684" cy="73152"/>
          </a:xfrm>
          <a:prstGeom prst="rect">
            <a:avLst/>
          </a:prstGeom>
          <a:solidFill>
            <a:srgbClr val="5BA53C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AltoTech Global  ·  auth.md × ADK tutorial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0140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02920" y="502920"/>
            <a:ext cx="457200" cy="457200"/>
          </a:xfrm>
          <a:prstGeom prst="rect">
            <a:avLst/>
          </a:prstGeom>
          <a:solidFill>
            <a:srgbClr val="E6F4FB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502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8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A6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097280" y="4572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Match, revoke, and harden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502920" y="1371600"/>
            <a:ext cx="3657600" cy="4480560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10" name="Shape 8"/>
          <p:cNvSpPr/>
          <p:nvPr/>
        </p:nvSpPr>
        <p:spPr>
          <a:xfrm>
            <a:off x="502920" y="1371600"/>
            <a:ext cx="3657600" cy="64008"/>
          </a:xfrm>
          <a:prstGeom prst="rect">
            <a:avLst/>
          </a:prstGeom>
          <a:solidFill>
            <a:srgbClr val="1E8FCC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155448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8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matching + JIT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85800" y="2103120"/>
            <a:ext cx="329184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263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Delegation record match on (iss, sub) - strongest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263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Verified email match (your verification)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263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Verified phone match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263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No match -&gt; JIT provision, or refuse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279392" y="1371600"/>
            <a:ext cx="3657600" cy="4480560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14" name="Shape 12"/>
          <p:cNvSpPr/>
          <p:nvPr/>
        </p:nvSpPr>
        <p:spPr>
          <a:xfrm>
            <a:off x="4279392" y="1371600"/>
            <a:ext cx="3657600" cy="64008"/>
          </a:xfrm>
          <a:prstGeom prst="rect">
            <a:avLst/>
          </a:prstGeom>
          <a:solidFill>
            <a:srgbClr val="4A8A31"/>
          </a:solidFill>
          <a:ln/>
        </p:spPr>
      </p:sp>
      <p:sp>
        <p:nvSpPr>
          <p:cNvPr id="15" name="Text 13"/>
          <p:cNvSpPr/>
          <p:nvPr/>
        </p:nvSpPr>
        <p:spPr>
          <a:xfrm>
            <a:off x="4462272" y="155448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8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Revocation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462272" y="2103120"/>
            <a:ext cx="329184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263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 logout tokens at revocation_uri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263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signature against issuer JWKS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263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 jti uniqueness (replay)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263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Invalidate all creds for (iss, sub, aud)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8055864" y="1371600"/>
            <a:ext cx="3657600" cy="4480560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18" name="Shape 16"/>
          <p:cNvSpPr/>
          <p:nvPr/>
        </p:nvSpPr>
        <p:spPr>
          <a:xfrm>
            <a:off x="8055864" y="1371600"/>
            <a:ext cx="3657600" cy="64008"/>
          </a:xfrm>
          <a:prstGeom prst="rect">
            <a:avLst/>
          </a:prstGeom>
          <a:solidFill>
            <a:srgbClr val="1E8FCC"/>
          </a:solidFill>
          <a:ln/>
        </p:spPr>
      </p:sp>
      <p:sp>
        <p:nvSpPr>
          <p:cNvPr id="19" name="Text 17"/>
          <p:cNvSpPr/>
          <p:nvPr/>
        </p:nvSpPr>
        <p:spPr>
          <a:xfrm>
            <a:off x="8238744" y="155448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8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Hardening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238744" y="2103120"/>
            <a:ext cx="329184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263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Two-tier rate limits (per-IP, per-tenant)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263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Replay cache for jti; CSPRNG OTP, short TTL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263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events on every state change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263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Bulk-revoke for incident response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E1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688836" cy="109728"/>
          </a:xfrm>
          <a:prstGeom prst="rect">
            <a:avLst/>
          </a:prstGeom>
          <a:solidFill>
            <a:srgbClr val="2BA4E0"/>
          </a:solidFill>
          <a:ln/>
        </p:spPr>
      </p:sp>
      <p:sp>
        <p:nvSpPr>
          <p:cNvPr id="3" name="Shape 1"/>
          <p:cNvSpPr/>
          <p:nvPr/>
        </p:nvSpPr>
        <p:spPr>
          <a:xfrm>
            <a:off x="6688836" y="0"/>
            <a:ext cx="5472684" cy="109728"/>
          </a:xfrm>
          <a:prstGeom prst="rect">
            <a:avLst/>
          </a:prstGeom>
          <a:solidFill>
            <a:srgbClr val="5BA53C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286000"/>
            <a:ext cx="5486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spc="400" kern="0" dirty="0">
                <a:solidFill>
                  <a:srgbClr val="8DC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B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92608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 auth.md from ADK agents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31520" y="397764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7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 credential acquisition into the durable pause-and-resume loop, so an agent that sleeps for days always wakes with a valid, least-privilege token.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688836" cy="73152"/>
          </a:xfrm>
          <a:prstGeom prst="rect">
            <a:avLst/>
          </a:prstGeom>
          <a:solidFill>
            <a:srgbClr val="2BA4E0"/>
          </a:solidFill>
          <a:ln/>
        </p:spPr>
      </p:sp>
      <p:sp>
        <p:nvSpPr>
          <p:cNvPr id="3" name="Shape 1"/>
          <p:cNvSpPr/>
          <p:nvPr/>
        </p:nvSpPr>
        <p:spPr>
          <a:xfrm>
            <a:off x="6688836" y="0"/>
            <a:ext cx="5472684" cy="73152"/>
          </a:xfrm>
          <a:prstGeom prst="rect">
            <a:avLst/>
          </a:prstGeom>
          <a:solidFill>
            <a:srgbClr val="5BA53C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AltoTech Global  ·  auth.md × ADK tutorial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0140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02920" y="502920"/>
            <a:ext cx="457200" cy="457200"/>
          </a:xfrm>
          <a:prstGeom prst="rect">
            <a:avLst/>
          </a:prstGeom>
          <a:solidFill>
            <a:srgbClr val="EDF6E4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502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A8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097280" y="4572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Recap: the ADK durable foundation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502920" y="123444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63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B builds on three ADK shifts that let agents survive multi-day idle time. The auth layer plugs into the wake-up path.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02920" y="1828800"/>
            <a:ext cx="3657600" cy="3108960"/>
          </a:xfrm>
          <a:prstGeom prst="rect">
            <a:avLst/>
          </a:prstGeom>
          <a:solidFill>
            <a:srgbClr val="EDF6E4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201168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A8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685800" y="260604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Durable state machine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85800" y="3200400"/>
            <a:ext cx="3291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63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named steps (START, WELCOME_SENT, ...) read from session state - never from chat history.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279392" y="1828800"/>
            <a:ext cx="3657600" cy="3108960"/>
          </a:xfrm>
          <a:prstGeom prst="rect">
            <a:avLst/>
          </a:prstGeom>
          <a:solidFill>
            <a:srgbClr val="EDF6E4"/>
          </a:solidFill>
          <a:ln/>
        </p:spPr>
      </p:sp>
      <p:sp>
        <p:nvSpPr>
          <p:cNvPr id="15" name="Text 13"/>
          <p:cNvSpPr/>
          <p:nvPr/>
        </p:nvSpPr>
        <p:spPr>
          <a:xfrm>
            <a:off x="4462272" y="201168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A8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4462272" y="260604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sessions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462272" y="3200400"/>
            <a:ext cx="3291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63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DatabaseSessionService on SQLite / Cloud SQL. Every ToolContext.state write is checkpointed to disk.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055864" y="1828800"/>
            <a:ext cx="3657600" cy="3108960"/>
          </a:xfrm>
          <a:prstGeom prst="rect">
            <a:avLst/>
          </a:prstGeom>
          <a:solidFill>
            <a:srgbClr val="EDF6E4"/>
          </a:solidFill>
          <a:ln/>
        </p:spPr>
      </p:sp>
      <p:sp>
        <p:nvSpPr>
          <p:cNvPr id="19" name="Text 17"/>
          <p:cNvSpPr/>
          <p:nvPr/>
        </p:nvSpPr>
        <p:spPr>
          <a:xfrm>
            <a:off x="8238744" y="201168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A8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8238744" y="260604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Event-driven resume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238744" y="3200400"/>
            <a:ext cx="3291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63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webhook wakes the agent; run_async applies a state_delta before the next inference. Scale to zero in between.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02920" y="52120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375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Google ADK - long-running agents that pause, resume, and never lose context (May 2026).</a:t>
            </a:r>
            <a:endParaRPr lang="en-US" sz="11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688836" cy="73152"/>
          </a:xfrm>
          <a:prstGeom prst="rect">
            <a:avLst/>
          </a:prstGeom>
          <a:solidFill>
            <a:srgbClr val="2BA4E0"/>
          </a:solidFill>
          <a:ln/>
        </p:spPr>
      </p:sp>
      <p:sp>
        <p:nvSpPr>
          <p:cNvPr id="3" name="Shape 1"/>
          <p:cNvSpPr/>
          <p:nvPr/>
        </p:nvSpPr>
        <p:spPr>
          <a:xfrm>
            <a:off x="6688836" y="0"/>
            <a:ext cx="5472684" cy="73152"/>
          </a:xfrm>
          <a:prstGeom prst="rect">
            <a:avLst/>
          </a:prstGeom>
          <a:solidFill>
            <a:srgbClr val="5BA53C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AltoTech Global  ·  auth.md × ADK tutorial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0140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02920" y="502920"/>
            <a:ext cx="457200" cy="457200"/>
          </a:xfrm>
          <a:prstGeom prst="rect">
            <a:avLst/>
          </a:prstGeom>
          <a:solidFill>
            <a:srgbClr val="EDF6E4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502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A8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097280" y="4572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the grant, not the token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502920" y="1234440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63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auth.md tokens are short-lived by design; your agent may sleep for days. Persist what the agent is allowed to do, not a credential that will have expired.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02920" y="2011680"/>
            <a:ext cx="5486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263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an auth_grants block to your state schema</a:t>
            </a:r>
            <a:endParaRPr lang="en-US" sz="13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263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it by service: flow, scopes, and a refresh reference</a:t>
            </a:r>
            <a:endParaRPr lang="en-US" sz="13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263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persistent session keeps the grant across idle time</a:t>
            </a:r>
            <a:endParaRPr lang="en-US" sz="13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263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expired token is never a problem - you re-mint on wake</a:t>
            </a:r>
            <a:endParaRPr lang="en-US" sz="13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263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enough to back auth.md OR plain OAuth refresh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309360" y="1783080"/>
            <a:ext cx="5349240" cy="310896"/>
          </a:xfrm>
          <a:prstGeom prst="rect">
            <a:avLst/>
          </a:prstGeom>
          <a:solidFill>
            <a:srgbClr val="1E8FCC"/>
          </a:solidFill>
          <a:ln/>
        </p:spPr>
      </p:sp>
      <p:sp>
        <p:nvSpPr>
          <p:cNvPr id="12" name="Text 10"/>
          <p:cNvSpPr/>
          <p:nvPr/>
        </p:nvSpPr>
        <p:spPr>
          <a:xfrm>
            <a:off x="6419088" y="1783080"/>
            <a:ext cx="51297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APP/STATE_SCHEMA.PY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309360" y="2093976"/>
            <a:ext cx="5349240" cy="3941064"/>
          </a:xfrm>
          <a:prstGeom prst="rect">
            <a:avLst/>
          </a:prstGeom>
          <a:solidFill>
            <a:srgbClr val="0E1A2B"/>
          </a:solidFill>
          <a:ln/>
        </p:spPr>
      </p:sp>
      <p:sp>
        <p:nvSpPr>
          <p:cNvPr id="14" name="Text 12"/>
          <p:cNvSpPr/>
          <p:nvPr/>
        </p:nvSpPr>
        <p:spPr>
          <a:xfrm>
            <a:off x="6455664" y="2148840"/>
            <a:ext cx="5056632" cy="3831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8DC6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OnboardingStep:
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F4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START = "START"
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F4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DOCUMENTS_SIGNED = "DOCS"
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375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durable grant, not a live token
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F4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state["auth_grants"] = {
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F4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"altotech_api": {
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F4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"flow": "user_claimed",
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F4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"scopes": ["sites.read"],
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F4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"claim_ref": "reg_01ABC..."
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F4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F4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688836" cy="73152"/>
          </a:xfrm>
          <a:prstGeom prst="rect">
            <a:avLst/>
          </a:prstGeom>
          <a:solidFill>
            <a:srgbClr val="2BA4E0"/>
          </a:solidFill>
          <a:ln/>
        </p:spPr>
      </p:sp>
      <p:sp>
        <p:nvSpPr>
          <p:cNvPr id="3" name="Shape 1"/>
          <p:cNvSpPr/>
          <p:nvPr/>
        </p:nvSpPr>
        <p:spPr>
          <a:xfrm>
            <a:off x="6688836" y="0"/>
            <a:ext cx="5472684" cy="73152"/>
          </a:xfrm>
          <a:prstGeom prst="rect">
            <a:avLst/>
          </a:prstGeom>
          <a:solidFill>
            <a:srgbClr val="5BA53C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AltoTech Global  ·  auth.md × ADK tutorial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0140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02920" y="502920"/>
            <a:ext cx="457200" cy="457200"/>
          </a:xfrm>
          <a:prstGeom prst="rect">
            <a:avLst/>
          </a:prstGeom>
          <a:solidFill>
            <a:srgbClr val="EDF6E4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502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A8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B3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097280" y="4572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Acquire credentials at wake time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502920" y="1234440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63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resume handler (or a before_tool_callback), fetch the app's auth.md and run the flow to get a fresh scoped token - right before the agent calls the external tool.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02920" y="2011680"/>
            <a:ext cx="512064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263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Webhook fires -&gt; hydrate the persisted session</a:t>
            </a:r>
            <a:endParaRPr lang="en-US" sz="13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263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stored grant for the target service</a:t>
            </a:r>
            <a:endParaRPr lang="en-US" sz="13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263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auth.md / PRM, run verified or claimed flow</a:t>
            </a:r>
            <a:endParaRPr lang="en-US" sz="13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263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 the fresh token into the tool call</a:t>
            </a:r>
            <a:endParaRPr lang="en-US" sz="13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263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the state_delta, then resume reasoning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852160" y="1783080"/>
            <a:ext cx="5806440" cy="310896"/>
          </a:xfrm>
          <a:prstGeom prst="rect">
            <a:avLst/>
          </a:prstGeom>
          <a:solidFill>
            <a:srgbClr val="1E8FCC"/>
          </a:solidFill>
          <a:ln/>
        </p:spPr>
      </p:sp>
      <p:sp>
        <p:nvSpPr>
          <p:cNvPr id="12" name="Text 10"/>
          <p:cNvSpPr/>
          <p:nvPr/>
        </p:nvSpPr>
        <p:spPr>
          <a:xfrm>
            <a:off x="5961888" y="1783080"/>
            <a:ext cx="55869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APP/RESUME_HANDLER.PY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852160" y="2093976"/>
            <a:ext cx="5806440" cy="3941064"/>
          </a:xfrm>
          <a:prstGeom prst="rect">
            <a:avLst/>
          </a:prstGeom>
          <a:solidFill>
            <a:srgbClr val="0E1A2B"/>
          </a:solidFill>
          <a:ln/>
        </p:spPr>
      </p:sp>
      <p:sp>
        <p:nvSpPr>
          <p:cNvPr id="14" name="Text 12"/>
          <p:cNvSpPr/>
          <p:nvPr/>
        </p:nvSpPr>
        <p:spPr>
          <a:xfrm>
            <a:off x="5998464" y="2148840"/>
            <a:ext cx="5513832" cy="3831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8DC6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 def on_wake(self, uid, sid):
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F4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grant = load_grant(sid)
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375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 re-mint a short-lived token
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F4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tok = await authmd.acquire(
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F4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grant, scopes=grant.scopes)
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F4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async for ev in runner.run_async(
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F4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user_id=uid, session_id=sid,
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F4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state_delta={
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F4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"current_step": "DOCS",
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F4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"api_token": tok }):
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F4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log(ev)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688836" cy="73152"/>
          </a:xfrm>
          <a:prstGeom prst="rect">
            <a:avLst/>
          </a:prstGeom>
          <a:solidFill>
            <a:srgbClr val="2BA4E0"/>
          </a:solidFill>
          <a:ln/>
        </p:spPr>
      </p:sp>
      <p:sp>
        <p:nvSpPr>
          <p:cNvPr id="3" name="Shape 1"/>
          <p:cNvSpPr/>
          <p:nvPr/>
        </p:nvSpPr>
        <p:spPr>
          <a:xfrm>
            <a:off x="6688836" y="0"/>
            <a:ext cx="5472684" cy="73152"/>
          </a:xfrm>
          <a:prstGeom prst="rect">
            <a:avLst/>
          </a:prstGeom>
          <a:solidFill>
            <a:srgbClr val="5BA53C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AltoTech Global  ·  auth.md × ADK tutorial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0140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02920" y="502920"/>
            <a:ext cx="457200" cy="457200"/>
          </a:xfrm>
          <a:prstGeom prst="rect">
            <a:avLst/>
          </a:prstGeom>
          <a:solidFill>
            <a:srgbClr val="EDF6E4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502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A8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B4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097280" y="45720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the gate to a flow, scope per sub-agent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502920" y="1417320"/>
            <a:ext cx="5486400" cy="4480560"/>
          </a:xfrm>
          <a:prstGeom prst="rect">
            <a:avLst/>
          </a:prstGeom>
          <a:solidFill>
            <a:srgbClr val="E6F4FB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16002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1E8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 GATE  =  USER-CLAIMED FLOW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31520" y="2057400"/>
            <a:ext cx="50292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263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pause-for-signature gate is the same shape as the claimed OTP confirmation</a:t>
            </a:r>
            <a:endParaRPr lang="en-US" sz="13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263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webhook that wakes the agent can carry or trigger the claim</a:t>
            </a:r>
            <a:endParaRPr lang="en-US" sz="13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263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Resumption and authorization happen in one motion</a:t>
            </a:r>
            <a:endParaRPr lang="en-US" sz="13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263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stays in control: they confirm, and can revoke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172200" y="1417320"/>
            <a:ext cx="5486400" cy="4480560"/>
          </a:xfrm>
          <a:prstGeom prst="rect">
            <a:avLst/>
          </a:prstGeom>
          <a:solidFill>
            <a:srgbClr val="EDF6E4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0" y="16002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4A8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LEAST PRIVILEGE PER SUB-AGENT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00800" y="2057400"/>
            <a:ext cx="50292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263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coordinator and each sub-agent get their own scoped token</a:t>
            </a:r>
            <a:endParaRPr lang="en-US" sz="13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263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it_agent gets provisioning scopes only; never control.write</a:t>
            </a:r>
            <a:endParaRPr lang="en-US" sz="13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263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 are independently revocable per agent</a:t>
            </a:r>
            <a:endParaRPr lang="en-US" sz="13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263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Matches ADK multi-agent delegation to OAuth scoping cleanly</a:t>
            </a:r>
            <a:endParaRPr lang="en-US" sz="13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688836" cy="73152"/>
          </a:xfrm>
          <a:prstGeom prst="rect">
            <a:avLst/>
          </a:prstGeom>
          <a:solidFill>
            <a:srgbClr val="2BA4E0"/>
          </a:solidFill>
          <a:ln/>
        </p:spPr>
      </p:sp>
      <p:sp>
        <p:nvSpPr>
          <p:cNvPr id="3" name="Shape 1"/>
          <p:cNvSpPr/>
          <p:nvPr/>
        </p:nvSpPr>
        <p:spPr>
          <a:xfrm>
            <a:off x="6688836" y="0"/>
            <a:ext cx="5472684" cy="73152"/>
          </a:xfrm>
          <a:prstGeom prst="rect">
            <a:avLst/>
          </a:prstGeom>
          <a:solidFill>
            <a:srgbClr val="5BA53C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AltoTech Global  ·  auth.md × ADK tutorial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0140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29260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8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ARCHITECTURE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56692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pieces fit at runtime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502920" y="1463040"/>
            <a:ext cx="5394960" cy="4297680"/>
          </a:xfrm>
          <a:prstGeom prst="rect">
            <a:avLst/>
          </a:prstGeom>
          <a:solidFill>
            <a:srgbClr val="E6F4FB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627632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E8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ALTOTECH APP  (Part A)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2011680"/>
            <a:ext cx="493776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63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auth.md  +  PRM  +  AS metadata</a:t>
            </a:r>
            <a:endParaRPr lang="en-US" sz="13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63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/agent/auth  (verified + claimed)</a:t>
            </a:r>
            <a:endParaRPr lang="en-US" sz="13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63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/agent/auth/claim  +  /claim/complete</a:t>
            </a:r>
            <a:endParaRPr lang="en-US" sz="13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63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/agent/auth/revoke  (logout tokens)</a:t>
            </a:r>
            <a:endParaRPr lang="en-US" sz="13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63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list · replay cache · audit log</a:t>
            </a:r>
            <a:endParaRPr lang="en-US" sz="13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63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Issues scoped, short-lived credentials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263640" y="1463040"/>
            <a:ext cx="5394960" cy="4297680"/>
          </a:xfrm>
          <a:prstGeom prst="rect">
            <a:avLst/>
          </a:prstGeom>
          <a:solidFill>
            <a:srgbClr val="EDF6E4"/>
          </a:solidFill>
          <a:ln/>
        </p:spPr>
      </p:sp>
      <p:sp>
        <p:nvSpPr>
          <p:cNvPr id="12" name="Text 10"/>
          <p:cNvSpPr/>
          <p:nvPr/>
        </p:nvSpPr>
        <p:spPr>
          <a:xfrm>
            <a:off x="6492240" y="1627632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4A8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ADK AGENT  (Part B)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92240" y="2011680"/>
            <a:ext cx="493776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63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machine + persistent session (SQLite/Cloud SQL)</a:t>
            </a:r>
            <a:endParaRPr lang="en-US" sz="13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63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auth_grants stored in session state</a:t>
            </a:r>
            <a:endParaRPr lang="en-US" sz="13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63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Webhook -&gt; resume handler -&gt; re-mint token</a:t>
            </a:r>
            <a:endParaRPr lang="en-US" sz="13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63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before_tool_callback injects fresh credential</a:t>
            </a:r>
            <a:endParaRPr lang="en-US" sz="13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63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Per-sub-agent scoped tokens</a:t>
            </a:r>
            <a:endParaRPr lang="en-US" sz="13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63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Scales to zero during idle time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897880" y="3383280"/>
            <a:ext cx="365760" cy="0"/>
          </a:xfrm>
          <a:prstGeom prst="line">
            <a:avLst/>
          </a:prstGeom>
          <a:noFill/>
          <a:ln w="31750">
            <a:solidFill>
              <a:srgbClr val="637589"/>
            </a:solidFill>
            <a:prstDash val="solid"/>
            <a:headEnd type="triangle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502920" y="5897880"/>
            <a:ext cx="11155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6375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scoped token / revocation over standard OAuth</a:t>
            </a:r>
            <a:endParaRPr lang="en-US" sz="11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688836" cy="73152"/>
          </a:xfrm>
          <a:prstGeom prst="rect">
            <a:avLst/>
          </a:prstGeom>
          <a:solidFill>
            <a:srgbClr val="2BA4E0"/>
          </a:solidFill>
          <a:ln/>
        </p:spPr>
      </p:sp>
      <p:sp>
        <p:nvSpPr>
          <p:cNvPr id="3" name="Shape 1"/>
          <p:cNvSpPr/>
          <p:nvPr/>
        </p:nvSpPr>
        <p:spPr>
          <a:xfrm>
            <a:off x="6688836" y="0"/>
            <a:ext cx="5472684" cy="73152"/>
          </a:xfrm>
          <a:prstGeom prst="rect">
            <a:avLst/>
          </a:prstGeom>
          <a:solidFill>
            <a:srgbClr val="5BA53C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AltoTech Global  ·  auth.md × ADK tutorial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0140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29260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8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REALITY CHECK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56692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trust, and where to be careful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502920" y="1417320"/>
            <a:ext cx="5486400" cy="2743200"/>
          </a:xfrm>
          <a:prstGeom prst="rect">
            <a:avLst/>
          </a:prstGeom>
          <a:solidFill>
            <a:srgbClr val="EDF6E4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572768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A8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ADK foundation - solid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31520" y="1965960"/>
            <a:ext cx="502920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63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Google guidance with runnable source</a:t>
            </a:r>
            <a:endParaRPr lang="en-US" sz="13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63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Mainstream production patterns</a:t>
            </a:r>
            <a:endParaRPr lang="en-US" sz="13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63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on it now with confidence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172200" y="1417320"/>
            <a:ext cx="5486400" cy="2743200"/>
          </a:xfrm>
          <a:prstGeom prst="rect">
            <a:avLst/>
          </a:prstGeom>
          <a:solidFill>
            <a:srgbClr val="FFFBEB"/>
          </a:solidFill>
          <a:ln/>
        </p:spPr>
      </p:sp>
      <p:sp>
        <p:nvSpPr>
          <p:cNvPr id="12" name="Shape 10"/>
          <p:cNvSpPr/>
          <p:nvPr/>
        </p:nvSpPr>
        <p:spPr>
          <a:xfrm>
            <a:off x="6172200" y="1417320"/>
            <a:ext cx="5486400" cy="2743200"/>
          </a:xfrm>
          <a:prstGeom prst="rect">
            <a:avLst/>
          </a:prstGeom>
          <a:ln w="12700">
            <a:solidFill>
              <a:srgbClr val="FDE68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0" y="1572768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auth.md - real but early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400800" y="1965960"/>
            <a:ext cx="502920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63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WorkOS-authored open protocol, early-access stage</a:t>
            </a:r>
            <a:endParaRPr lang="en-US" sz="13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63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Composes existing OAuth RFCs (not new crypto)</a:t>
            </a:r>
            <a:endParaRPr lang="en-US" sz="13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63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Adoption still thin; spec may change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02920" y="4389120"/>
            <a:ext cx="11155680" cy="1463040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16" name="Shape 14"/>
          <p:cNvSpPr/>
          <p:nvPr/>
        </p:nvSpPr>
        <p:spPr>
          <a:xfrm>
            <a:off x="502920" y="4389120"/>
            <a:ext cx="11155680" cy="64008"/>
          </a:xfrm>
          <a:prstGeom prst="rect">
            <a:avLst/>
          </a:prstGeom>
          <a:solidFill>
            <a:srgbClr val="2BA4E0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4526280"/>
            <a:ext cx="106984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00" kern="0" dirty="0">
                <a:solidFill>
                  <a:srgbClr val="1E8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  </a:t>
            </a:r>
            <a:pPr indent="0" marL="0">
              <a:buNone/>
            </a:pPr>
            <a:r>
              <a:rPr lang="en-US" sz="1350" dirty="0">
                <a:solidFill>
                  <a:srgbClr val="263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 the ADK architecture as your foundation now. Design state around a generic auth-grant abstraction so you can use auth.md where a service publishes one and fall back to standard OAuth refresh-token flows everywhere else. Prototype the user-claimed flow first - it needs no provider.</a:t>
            </a:r>
            <a:endParaRPr lang="en-US" sz="13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688836" cy="73152"/>
          </a:xfrm>
          <a:prstGeom prst="rect">
            <a:avLst/>
          </a:prstGeom>
          <a:solidFill>
            <a:srgbClr val="2BA4E0"/>
          </a:solidFill>
          <a:ln/>
        </p:spPr>
      </p:sp>
      <p:sp>
        <p:nvSpPr>
          <p:cNvPr id="3" name="Shape 1"/>
          <p:cNvSpPr/>
          <p:nvPr/>
        </p:nvSpPr>
        <p:spPr>
          <a:xfrm>
            <a:off x="6688836" y="0"/>
            <a:ext cx="5472684" cy="73152"/>
          </a:xfrm>
          <a:prstGeom prst="rect">
            <a:avLst/>
          </a:prstGeom>
          <a:solidFill>
            <a:srgbClr val="5BA53C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AltoTech Global  ·  auth.md × ADK tutorial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0140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29260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8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STARTED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56692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first week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502920" y="1417320"/>
            <a:ext cx="457200" cy="457200"/>
          </a:xfrm>
          <a:prstGeom prst="rect">
            <a:avLst/>
          </a:prstGeom>
          <a:solidFill>
            <a:srgbClr val="2BA4E0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1417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097280" y="1399032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 up the ADK skeleton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97280" y="1801368"/>
            <a:ext cx="10424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63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machine + DatabaseSessionService + a webhook resume handler. Clone the new-hire-onboarding repo to start.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02920" y="2496312"/>
            <a:ext cx="457200" cy="457200"/>
          </a:xfrm>
          <a:prstGeom prst="rect">
            <a:avLst/>
          </a:prstGeom>
          <a:solidFill>
            <a:srgbClr val="2BA4E0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" y="24963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097280" y="2478024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the auth-grant abstraction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97280" y="2880360"/>
            <a:ext cx="10424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63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auth_grants in your state schema. Build acquire(grant, scopes) with auth.md first, OAuth refresh as fallback.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02920" y="3575304"/>
            <a:ext cx="457200" cy="457200"/>
          </a:xfrm>
          <a:prstGeom prst="rect">
            <a:avLst/>
          </a:prstGeom>
          <a:solidFill>
            <a:srgbClr val="2BA4E0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" y="35753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097280" y="3557016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a minimal auth.md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97280" y="3959352"/>
            <a:ext cx="10424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63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one AltoTech API: auth.md + PRM + AS metadata + /agent/auth. Start with the user-claimed (email-required) flow.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02920" y="4654296"/>
            <a:ext cx="457200" cy="457200"/>
          </a:xfrm>
          <a:prstGeom prst="rect">
            <a:avLst/>
          </a:prstGeom>
          <a:solidFill>
            <a:srgbClr val="2BA4E0"/>
          </a:solidFill>
          <a:ln/>
        </p:spPr>
      </p:sp>
      <p:sp>
        <p:nvSpPr>
          <p:cNvPr id="21" name="Text 19"/>
          <p:cNvSpPr/>
          <p:nvPr/>
        </p:nvSpPr>
        <p:spPr>
          <a:xfrm>
            <a:off x="502920" y="46542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097280" y="4636008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 wake-time acquisition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097280" y="5038344"/>
            <a:ext cx="10424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63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acquire() in the resume handler; inject the token via before_tool_callback. Test with an eval that simulates 48h idle.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02920" y="6199632"/>
            <a:ext cx="11155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375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 workos.com/auth-md/docs/apps   ·   developers.googleblog.com (ADK long-running agents)   ·   github.com/workos/auth.md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auth.md x ADK - Authenticating Long-Running Agents</dc:title>
  <dc:subject>PptxGenJS Presentation</dc:subject>
  <dc:creator>AltoTech Global</dc:creator>
  <cp:lastModifiedBy>AltoTech Global</cp:lastModifiedBy>
  <cp:revision>1</cp:revision>
  <dcterms:created xsi:type="dcterms:W3CDTF">2026-06-16T05:14:52Z</dcterms:created>
  <dcterms:modified xsi:type="dcterms:W3CDTF">2026-06-16T05:14:52Z</dcterms:modified>
</cp:coreProperties>
</file>